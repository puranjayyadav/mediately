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FY2024 Meta Campaign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Lead Generation Campaign 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08080"/>
                </a:solidFill>
              </a:defRPr>
            </a:pPr>
            <a:r>
              <a:t>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Key Findings:</a:t>
            </a:r>
          </a:p>
          <a:p>
            <a:pPr>
              <a:defRPr sz="1400"/>
            </a:pPr>
            <a:r>
              <a:rPr dirty="0"/>
              <a:t>• Total Leads Generated: 619</a:t>
            </a:r>
          </a:p>
          <a:p>
            <a:pPr>
              <a:defRPr sz="1400"/>
            </a:pPr>
            <a:r>
              <a:rPr dirty="0"/>
              <a:t>• Total Spend: $205,449</a:t>
            </a:r>
          </a:p>
          <a:p>
            <a:pPr>
              <a:defRPr sz="1400"/>
            </a:pPr>
            <a:r>
              <a:rPr dirty="0"/>
              <a:t>• Overall Click-to-Submit Rate: 1.51%</a:t>
            </a:r>
          </a:p>
          <a:p>
            <a:pPr>
              <a:defRPr sz="1400"/>
            </a:pPr>
            <a:r>
              <a:rPr dirty="0"/>
              <a:t>• Overall LPV-to-Submit Rate: 2.81%</a:t>
            </a:r>
          </a:p>
          <a:p>
            <a:pPr>
              <a:defRPr sz="1400"/>
            </a:pPr>
            <a:r>
              <a:rPr dirty="0"/>
              <a:t>• Average CPL: $98.94</a:t>
            </a:r>
          </a:p>
          <a:p>
            <a:pPr>
              <a:defRPr sz="1400"/>
            </a:pPr>
            <a:r>
              <a:rPr dirty="0"/>
              <a:t>• Programs Analyzed: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Seasonality Analysis: CPL and Lead 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Key Insights:</a:t>
            </a:r>
          </a:p>
          <a:p>
            <a:pPr>
              <a:defRPr sz="1400"/>
            </a:pPr>
            <a:r>
              <a:rPr dirty="0"/>
              <a:t>• Peak Lead Month: Jun (88 leads)</a:t>
            </a:r>
          </a:p>
          <a:p>
            <a:pPr>
              <a:defRPr sz="1400"/>
            </a:pPr>
            <a:r>
              <a:rPr dirty="0"/>
              <a:t>• Lowest Lead Month: Jul (32 leads)</a:t>
            </a:r>
          </a:p>
          <a:p>
            <a:pPr>
              <a:defRPr sz="1400"/>
            </a:pPr>
            <a:r>
              <a:rPr dirty="0"/>
              <a:t>• Highest CPL Month: Jun ($165.01)</a:t>
            </a:r>
          </a:p>
          <a:p>
            <a:pPr>
              <a:defRPr sz="1400"/>
            </a:pPr>
            <a:r>
              <a:rPr dirty="0"/>
              <a:t>• Lowest CPL Month: Jul ($38.82)</a:t>
            </a:r>
          </a:p>
          <a:p>
            <a:br>
              <a:rPr dirty="0"/>
            </a:br>
            <a:r>
              <a:rPr dirty="0"/>
              <a:t>Recommendation: Increase budget allocation during peak months (May-June) and optimize campaigns during high CPL periods.</a:t>
            </a:r>
          </a:p>
        </p:txBody>
      </p:sp>
      <p:pic>
        <p:nvPicPr>
          <p:cNvPr id="4" name="Picture 3" descr="01_seasonalit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35808"/>
            <a:ext cx="8229600" cy="33649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Click-to-Submit Conversion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rPr dirty="0"/>
              <a:t>Overall Rate: 1.51%</a:t>
            </a:r>
          </a:p>
          <a:p>
            <a:br>
              <a:rPr dirty="0"/>
            </a:br>
            <a:r>
              <a:rPr dirty="0"/>
              <a:t>Total Clicks: 41,108</a:t>
            </a:r>
          </a:p>
          <a:p>
            <a:pPr>
              <a:defRPr sz="1400"/>
            </a:pPr>
            <a:r>
              <a:rPr dirty="0"/>
              <a:t>Total Submits: 619</a:t>
            </a:r>
          </a:p>
          <a:p>
            <a:br>
              <a:rPr dirty="0"/>
            </a:br>
            <a:r>
              <a:rPr dirty="0"/>
              <a:t>Top Performing Programs:</a:t>
            </a:r>
          </a:p>
          <a:p>
            <a:pPr lvl="1">
              <a:defRPr sz="1200"/>
            </a:pPr>
            <a:r>
              <a:rPr dirty="0"/>
              <a:t>• MS in engineering management: 2.63%</a:t>
            </a:r>
          </a:p>
          <a:p>
            <a:pPr lvl="1">
              <a:defRPr sz="1200"/>
            </a:pPr>
            <a:r>
              <a:rPr dirty="0"/>
              <a:t>• Military focused campaign: 2.60%</a:t>
            </a:r>
          </a:p>
          <a:p>
            <a:pPr lvl="1">
              <a:defRPr sz="1200"/>
            </a:pPr>
            <a:r>
              <a:rPr dirty="0"/>
              <a:t>• MBA Airlines: 2.30%</a:t>
            </a:r>
          </a:p>
        </p:txBody>
      </p:sp>
      <p:pic>
        <p:nvPicPr>
          <p:cNvPr id="4" name="Picture 3" descr="02_click_to_submit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574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Landing Page View-to-Submit Conversion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Overall Rate: 2.81%</a:t>
            </a:r>
          </a:p>
          <a:p>
            <a:br/>
            <a:r>
              <a:t>Total Landing Page Views: 22,015</a:t>
            </a:r>
          </a:p>
          <a:p>
            <a:pPr>
              <a:defRPr sz="1400"/>
            </a:pPr>
            <a:r>
              <a:t>Total Submits: 619</a:t>
            </a:r>
          </a:p>
          <a:p>
            <a:br/>
            <a:r>
              <a:t>Insight: Landing page optimization shows higher conversion potential than ad clicks alone.</a:t>
            </a:r>
          </a:p>
        </p:txBody>
      </p:sp>
      <p:pic>
        <p:nvPicPr>
          <p:cNvPr id="4" name="Picture 3" descr="03_lpv_to_submit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200082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Underperforming Programs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800" b="1"/>
            </a:pPr>
            <a:r>
              <a:rPr dirty="0"/>
              <a:t>Programs Requiring Attention:</a:t>
            </a:r>
          </a:p>
          <a:p>
            <a:pPr>
              <a:defRPr sz="1400" b="1"/>
            </a:pPr>
            <a:r>
              <a:rPr dirty="0"/>
              <a:t>• MS in engineering management</a:t>
            </a:r>
          </a:p>
          <a:p>
            <a:pPr lvl="1">
              <a:defRPr sz="1200"/>
            </a:pPr>
            <a:r>
              <a:rPr dirty="0"/>
              <a:t>  Category: High CPL | CPL: $177.39 | Conversion: 2.63%</a:t>
            </a:r>
          </a:p>
          <a:p>
            <a:pPr>
              <a:defRPr sz="1400" b="1"/>
            </a:pPr>
            <a:r>
              <a:rPr dirty="0"/>
              <a:t>• MBA Airlines</a:t>
            </a:r>
          </a:p>
          <a:p>
            <a:pPr lvl="1">
              <a:defRPr sz="1200"/>
            </a:pPr>
            <a:r>
              <a:rPr dirty="0"/>
              <a:t>  Category: High CPL | CPL: $101.09 | Conversion: 2.30%</a:t>
            </a:r>
          </a:p>
          <a:p>
            <a:pPr>
              <a:defRPr sz="1400" b="1"/>
            </a:pPr>
            <a:r>
              <a:rPr dirty="0"/>
              <a:t>• Military focused campaign</a:t>
            </a:r>
          </a:p>
          <a:p>
            <a:pPr lvl="1">
              <a:defRPr sz="1200"/>
            </a:pPr>
            <a:r>
              <a:rPr dirty="0"/>
              <a:t>  Category: High CPL | CPL: $95.77 | Conversion: 2.60%</a:t>
            </a:r>
          </a:p>
          <a:p>
            <a:pPr>
              <a:defRPr sz="1400" b="1"/>
            </a:pPr>
            <a:r>
              <a:rPr dirty="0"/>
              <a:t>• Bachelors of science in aerospace</a:t>
            </a:r>
          </a:p>
          <a:p>
            <a:pPr lvl="1">
              <a:defRPr sz="1200"/>
            </a:pPr>
            <a:r>
              <a:rPr dirty="0"/>
              <a:t>  Category: Low Conversion | CPL: $83.06 | Conversion: 1.61%</a:t>
            </a:r>
          </a:p>
          <a:p>
            <a:pPr>
              <a:defRPr sz="1400" b="1"/>
            </a:pPr>
            <a:r>
              <a:rPr dirty="0"/>
              <a:t>• MS in management</a:t>
            </a:r>
          </a:p>
          <a:p>
            <a:pPr lvl="1">
              <a:defRPr sz="1200"/>
            </a:pPr>
            <a:r>
              <a:rPr dirty="0"/>
              <a:t>  Category: Low Conversion | CPL: $58.97 | Conversion: 1.40%</a:t>
            </a:r>
          </a:p>
          <a:p>
            <a:pPr>
              <a:defRPr sz="1400" b="1"/>
            </a:pPr>
            <a:r>
              <a:rPr dirty="0"/>
              <a:t>• Masters of space operations</a:t>
            </a:r>
          </a:p>
          <a:p>
            <a:pPr lvl="1">
              <a:defRPr sz="1200"/>
            </a:pPr>
            <a:r>
              <a:rPr dirty="0"/>
              <a:t>  Category: No Leads | CPL: $nan | Conversion: 0.00%</a:t>
            </a:r>
          </a:p>
          <a:p>
            <a:br>
              <a:rPr dirty="0"/>
            </a:br>
            <a:r>
              <a:rPr dirty="0"/>
              <a:t>Recommendation: Review targeting, ad creative, and landing page experience for underperforming programs.</a:t>
            </a:r>
          </a:p>
        </p:txBody>
      </p:sp>
      <p:pic>
        <p:nvPicPr>
          <p:cNvPr id="4" name="Picture 3" descr="04_underperforming_pr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9152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Ad Engagement Trends &amp; Lead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Key Findings:</a:t>
            </a:r>
          </a:p>
          <a:p>
            <a:pPr>
              <a:defRPr sz="1400"/>
            </a:pPr>
            <a:r>
              <a:rPr dirty="0"/>
              <a:t>• Strong positive correlation between ad engagements and leads in following periods</a:t>
            </a:r>
          </a:p>
          <a:p>
            <a:pPr>
              <a:defRPr sz="1400"/>
            </a:pPr>
            <a:r>
              <a:rPr dirty="0"/>
              <a:t>• Clicks (1-week lag) correlation: 0.651</a:t>
            </a:r>
          </a:p>
          <a:p>
            <a:pPr>
              <a:defRPr sz="1400"/>
            </a:pPr>
            <a:r>
              <a:rPr dirty="0"/>
              <a:t>• Landing Page Views (1-week lag) correlation: 0.661</a:t>
            </a:r>
          </a:p>
          <a:p>
            <a:br>
              <a:rPr dirty="0"/>
            </a:br>
            <a:r>
              <a:rPr dirty="0"/>
              <a:t>Recommendation: Increase ad spend during high-engagement periods to capitalize on delayed conversion patterns.</a:t>
            </a:r>
          </a:p>
        </p:txBody>
      </p:sp>
      <p:pic>
        <p:nvPicPr>
          <p:cNvPr id="4" name="Picture 3" descr="05_engagement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325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Budget Allocation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Recommended Budget Reallocation:</a:t>
            </a:r>
          </a:p>
          <a:p>
            <a:br/>
            <a:r>
              <a:t>INCREASE Budget:</a:t>
            </a:r>
          </a:p>
          <a:p>
            <a:pPr lvl="1">
              <a:defRPr sz="1200"/>
            </a:pPr>
            <a:r>
              <a:t>• Military focused campaign (Efficiency Score: 0.271)</a:t>
            </a:r>
          </a:p>
          <a:p>
            <a:pPr lvl="1">
              <a:defRPr sz="1200"/>
            </a:pPr>
            <a:r>
              <a:t>• Bachelors of science in engineering (Efficiency Score: 0.264)</a:t>
            </a:r>
          </a:p>
          <a:p>
            <a:pPr lvl="1">
              <a:defRPr sz="1200"/>
            </a:pPr>
            <a:r>
              <a:t>• MS in management (Efficiency Score: 0.237)</a:t>
            </a:r>
          </a:p>
          <a:p>
            <a:br/>
            <a:r>
              <a:t>DECREASE/OPTIMIZE Budget:</a:t>
            </a:r>
          </a:p>
          <a:p>
            <a:pPr lvl="1">
              <a:defRPr sz="1200"/>
            </a:pPr>
            <a:r>
              <a:t>• MS in engineering management (High CPL)</a:t>
            </a:r>
          </a:p>
          <a:p>
            <a:pPr lvl="1">
              <a:defRPr sz="1200"/>
            </a:pPr>
            <a:r>
              <a:t>• Bachelors of science in aerospace (Low Conversion)</a:t>
            </a:r>
          </a:p>
        </p:txBody>
      </p:sp>
      <p:pic>
        <p:nvPicPr>
          <p:cNvPr id="4" name="Picture 3" descr="06_budget_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87952"/>
            <a:ext cx="8229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FY2025 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Key Recommendations:</a:t>
            </a:r>
          </a:p>
          <a:p>
            <a:pPr>
              <a:defRPr sz="1400" b="1"/>
            </a:pPr>
            <a:r>
              <a:rPr dirty="0"/>
              <a:t>1. Seasonal Budget Planning</a:t>
            </a:r>
          </a:p>
          <a:p>
            <a:pPr lvl="1">
              <a:defRPr sz="1200"/>
            </a:pPr>
            <a:r>
              <a:rPr dirty="0"/>
              <a:t>   Allocate 40-50% of Q4 budget to May-June period (peak lead months)</a:t>
            </a:r>
          </a:p>
          <a:p>
            <a:pPr>
              <a:defRPr sz="1400" b="1"/>
            </a:pPr>
            <a:r>
              <a:rPr dirty="0"/>
              <a:t>2. Program Optimization</a:t>
            </a:r>
          </a:p>
          <a:p>
            <a:pPr lvl="1">
              <a:defRPr sz="1200"/>
            </a:pPr>
            <a:r>
              <a:rPr dirty="0"/>
              <a:t>   Pause or significantly reduce spend on 'Masters of Space Operations' (0 leads)</a:t>
            </a:r>
          </a:p>
          <a:p>
            <a:pPr lvl="1">
              <a:defRPr sz="1200"/>
            </a:pPr>
            <a:r>
              <a:rPr dirty="0"/>
              <a:t>   Optimize 'MS in Engineering Management' (highest CPL at $177.39)</a:t>
            </a:r>
          </a:p>
          <a:p>
            <a:pPr>
              <a:defRPr sz="1400" b="1"/>
            </a:pPr>
            <a:r>
              <a:rPr dirty="0"/>
              <a:t>3. Landing Page Optimization</a:t>
            </a:r>
          </a:p>
          <a:p>
            <a:pPr lvl="1">
              <a:defRPr sz="1200"/>
            </a:pPr>
            <a:r>
              <a:rPr dirty="0"/>
              <a:t>   Focus on improving LPV-to-submit rate (currently 2.81%)</a:t>
            </a:r>
          </a:p>
          <a:p>
            <a:pPr>
              <a:defRPr sz="1400" b="1"/>
            </a:pPr>
            <a:r>
              <a:rPr dirty="0"/>
              <a:t>4. Engagement-Based Budgeting</a:t>
            </a:r>
          </a:p>
          <a:p>
            <a:pPr lvl="1">
              <a:defRPr sz="1200"/>
            </a:pPr>
            <a:r>
              <a:rPr dirty="0"/>
              <a:t>   Increase spend during high engagement weeks to capture delayed conversions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Summary:</a:t>
            </a:r>
          </a:p>
          <a:p>
            <a:pPr>
              <a:defRPr sz="1400"/>
            </a:pPr>
            <a:r>
              <a:rPr dirty="0"/>
              <a:t>• Strong seasonality patterns identified - peak performance in May-June</a:t>
            </a:r>
          </a:p>
          <a:p>
            <a:pPr>
              <a:defRPr sz="1400"/>
            </a:pPr>
            <a:r>
              <a:rPr dirty="0"/>
              <a:t>• Conversion rates show room for improvement, especially landing page optimization</a:t>
            </a:r>
          </a:p>
          <a:p>
            <a:pPr>
              <a:defRPr sz="1400"/>
            </a:pPr>
            <a:r>
              <a:rPr dirty="0"/>
              <a:t>• Clear opportunities for budget reallocation to high-performing programs</a:t>
            </a:r>
          </a:p>
          <a:p>
            <a:pPr>
              <a:defRPr sz="1400"/>
            </a:pPr>
            <a:r>
              <a:rPr dirty="0"/>
              <a:t>• Engagement trends indicate delayed conversion patterns to leverage</a:t>
            </a:r>
          </a:p>
          <a:p>
            <a:br>
              <a:rPr dirty="0"/>
            </a:br>
            <a:r>
              <a:rPr dirty="0"/>
              <a:t>Next Steps:</a:t>
            </a:r>
          </a:p>
          <a:p>
            <a:pPr lvl="1">
              <a:defRPr sz="1200"/>
            </a:pPr>
            <a:r>
              <a:rPr dirty="0"/>
              <a:t>1. Implement seasonal budget allocation plan</a:t>
            </a:r>
          </a:p>
          <a:p>
            <a:pPr lvl="1">
              <a:defRPr sz="1200"/>
            </a:pPr>
            <a:r>
              <a:rPr dirty="0"/>
              <a:t>2. Conduct landing page A/B testing for underperforming programs</a:t>
            </a:r>
          </a:p>
          <a:p>
            <a:pPr lvl="1">
              <a:defRPr sz="1200"/>
            </a:pPr>
            <a:r>
              <a:rPr dirty="0"/>
              <a:t>3. Review and optimize 'Masters of Space Operations' campaign strategy</a:t>
            </a:r>
          </a:p>
          <a:p>
            <a:pPr lvl="1">
              <a:defRPr sz="1200"/>
            </a:pPr>
            <a:r>
              <a:rPr dirty="0"/>
              <a:t>4. Set up engagement-based budget triggers for Q1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647</Words>
  <Application>Microsoft Office PowerPoint</Application>
  <PresentationFormat>On-screen Show (4:3)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Executive Summary</vt:lpstr>
      <vt:lpstr>Seasonality Analysis: CPL and Lead Volume</vt:lpstr>
      <vt:lpstr>Click-to-Submit Conversion Rate</vt:lpstr>
      <vt:lpstr>Landing Page View-to-Submit Conversion Rate</vt:lpstr>
      <vt:lpstr>Underperforming Programs Analysis</vt:lpstr>
      <vt:lpstr>Ad Engagement Trends &amp; Lead Correlation</vt:lpstr>
      <vt:lpstr>Budget Allocation Recommendations</vt:lpstr>
      <vt:lpstr>FY2025 Strategic Recommendations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Puranjay Yadav</cp:lastModifiedBy>
  <cp:revision>2</cp:revision>
  <dcterms:created xsi:type="dcterms:W3CDTF">2013-01-27T09:14:16Z</dcterms:created>
  <dcterms:modified xsi:type="dcterms:W3CDTF">2025-12-24T21:46:35Z</dcterms:modified>
  <cp:category/>
</cp:coreProperties>
</file>